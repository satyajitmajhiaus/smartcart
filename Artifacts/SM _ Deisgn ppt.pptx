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91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6334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668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8909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9494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5191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2829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4324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6618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9558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6496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88025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32274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45000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71260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3944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27689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75957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85055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24006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15634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28176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5827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8ABBB-BC92-436B-86C2-593EDF46E0C9}" type="datetimeFigureOut">
              <a:rPr lang="en-IN" smtClean="0"/>
              <a:t>12-01-2026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EECF03-DF2F-41E7-9801-0DA3CA983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5410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200"/>
            <a:fld id="{5BCAD085-E8A6-8845-BD4E-CB4CCA059FC4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457200"/>
              <a:t>1/12/2026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200"/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457200"/>
            <a:fld id="{C1FF6DA9-008F-8B48-92A6-B652298478BF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457200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4748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>
            <a:off x="3501957" y="1108954"/>
            <a:ext cx="0" cy="425423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6825574" y="1050588"/>
            <a:ext cx="0" cy="425423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93477" y="2853448"/>
            <a:ext cx="1693344" cy="382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React JS</a:t>
            </a:r>
            <a:endParaRPr lang="en-IN" dirty="0"/>
          </a:p>
        </p:txBody>
      </p:sp>
      <p:sp>
        <p:nvSpPr>
          <p:cNvPr id="8" name="TextBox 7"/>
          <p:cNvSpPr txBox="1"/>
          <p:nvPr/>
        </p:nvSpPr>
        <p:spPr>
          <a:xfrm>
            <a:off x="874757" y="810957"/>
            <a:ext cx="1930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Presentation Layer</a:t>
            </a:r>
            <a:endParaRPr lang="en-IN" dirty="0"/>
          </a:p>
        </p:txBody>
      </p:sp>
      <p:sp>
        <p:nvSpPr>
          <p:cNvPr id="9" name="TextBox 8"/>
          <p:cNvSpPr txBox="1"/>
          <p:nvPr/>
        </p:nvSpPr>
        <p:spPr>
          <a:xfrm>
            <a:off x="4085912" y="856355"/>
            <a:ext cx="1798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Application Layer</a:t>
            </a:r>
            <a:endParaRPr lang="en-IN" dirty="0"/>
          </a:p>
        </p:txBody>
      </p:sp>
      <p:sp>
        <p:nvSpPr>
          <p:cNvPr id="10" name="TextBox 9"/>
          <p:cNvSpPr txBox="1"/>
          <p:nvPr/>
        </p:nvSpPr>
        <p:spPr>
          <a:xfrm>
            <a:off x="8077199" y="865922"/>
            <a:ext cx="1006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DB Layer</a:t>
            </a: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993477" y="2110903"/>
            <a:ext cx="1693344" cy="382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Client Browser</a:t>
            </a:r>
            <a:endParaRPr lang="en-IN" dirty="0"/>
          </a:p>
        </p:txBody>
      </p:sp>
      <p:sp>
        <p:nvSpPr>
          <p:cNvPr id="12" name="Rectangle 11"/>
          <p:cNvSpPr/>
          <p:nvPr/>
        </p:nvSpPr>
        <p:spPr>
          <a:xfrm>
            <a:off x="648512" y="1556425"/>
            <a:ext cx="2451370" cy="230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4317093" y="2506494"/>
            <a:ext cx="1693344" cy="382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.NET Core API</a:t>
            </a:r>
            <a:endParaRPr lang="en-IN" dirty="0"/>
          </a:p>
        </p:txBody>
      </p:sp>
      <p:grpSp>
        <p:nvGrpSpPr>
          <p:cNvPr id="25" name="Group 24"/>
          <p:cNvGrpSpPr/>
          <p:nvPr/>
        </p:nvGrpSpPr>
        <p:grpSpPr>
          <a:xfrm>
            <a:off x="7741827" y="1797790"/>
            <a:ext cx="2134326" cy="1783246"/>
            <a:chOff x="7864340" y="1517674"/>
            <a:chExt cx="2134326" cy="1783246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41" t="25254" r="56968" b="28165"/>
            <a:stretch/>
          </p:blipFill>
          <p:spPr>
            <a:xfrm>
              <a:off x="8177719" y="1660187"/>
              <a:ext cx="518809" cy="453958"/>
            </a:xfrm>
            <a:prstGeom prst="rect">
              <a:avLst/>
            </a:prstGeom>
          </p:spPr>
        </p:pic>
        <p:sp>
          <p:nvSpPr>
            <p:cNvPr id="15" name="Flowchart: Magnetic Disk 14"/>
            <p:cNvSpPr/>
            <p:nvPr/>
          </p:nvSpPr>
          <p:spPr>
            <a:xfrm>
              <a:off x="8262025" y="2412415"/>
              <a:ext cx="389106" cy="512731"/>
            </a:xfrm>
            <a:prstGeom prst="flowChartMagneticDisk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14837" y="2415816"/>
              <a:ext cx="1238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MS SQL DB</a:t>
              </a:r>
              <a:endParaRPr lang="en-IN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696528" y="1702500"/>
              <a:ext cx="1238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Redis</a:t>
              </a:r>
              <a:endParaRPr lang="en-IN" dirty="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864340" y="1517674"/>
              <a:ext cx="2134326" cy="1783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33" name="Straight Arrow Connector 32"/>
          <p:cNvCxnSpPr>
            <a:stCxn id="11" idx="2"/>
            <a:endCxn id="7" idx="0"/>
          </p:cNvCxnSpPr>
          <p:nvPr/>
        </p:nvCxnSpPr>
        <p:spPr>
          <a:xfrm>
            <a:off x="1840149" y="2493524"/>
            <a:ext cx="0" cy="3599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2" idx="3"/>
            <a:endCxn id="13" idx="1"/>
          </p:cNvCxnSpPr>
          <p:nvPr/>
        </p:nvCxnSpPr>
        <p:spPr>
          <a:xfrm flipV="1">
            <a:off x="3099882" y="2697805"/>
            <a:ext cx="1217211" cy="972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3" idx="3"/>
            <a:endCxn id="27" idx="1"/>
          </p:cNvCxnSpPr>
          <p:nvPr/>
        </p:nvCxnSpPr>
        <p:spPr>
          <a:xfrm flipV="1">
            <a:off x="6010437" y="2689413"/>
            <a:ext cx="1731390" cy="83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728787" y="161126"/>
            <a:ext cx="82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Logical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7189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 flipH="1">
            <a:off x="3829050" y="1217402"/>
            <a:ext cx="8663" cy="4840498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7054165" y="1206280"/>
            <a:ext cx="0" cy="482400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193506" y="3553543"/>
            <a:ext cx="1693344" cy="38262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Redux Toolkit</a:t>
            </a:r>
            <a:endParaRPr lang="en-IN" dirty="0"/>
          </a:p>
        </p:txBody>
      </p:sp>
      <p:sp>
        <p:nvSpPr>
          <p:cNvPr id="8" name="TextBox 7"/>
          <p:cNvSpPr txBox="1"/>
          <p:nvPr/>
        </p:nvSpPr>
        <p:spPr>
          <a:xfrm>
            <a:off x="1050188" y="1208823"/>
            <a:ext cx="1866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Frontend- ReactJS</a:t>
            </a:r>
            <a:endParaRPr lang="en-IN" dirty="0"/>
          </a:p>
        </p:txBody>
      </p:sp>
      <p:sp>
        <p:nvSpPr>
          <p:cNvPr id="10" name="TextBox 9"/>
          <p:cNvSpPr txBox="1"/>
          <p:nvPr/>
        </p:nvSpPr>
        <p:spPr>
          <a:xfrm>
            <a:off x="8399255" y="1208823"/>
            <a:ext cx="1006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DB Layer</a:t>
            </a:r>
            <a:endParaRPr lang="en-IN" dirty="0"/>
          </a:p>
        </p:txBody>
      </p:sp>
      <p:sp>
        <p:nvSpPr>
          <p:cNvPr id="11" name="Rectangle 10"/>
          <p:cNvSpPr/>
          <p:nvPr/>
        </p:nvSpPr>
        <p:spPr>
          <a:xfrm>
            <a:off x="1193506" y="2810998"/>
            <a:ext cx="1693344" cy="38262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Cart UI</a:t>
            </a:r>
            <a:endParaRPr lang="en-IN" dirty="0"/>
          </a:p>
        </p:txBody>
      </p:sp>
      <p:sp>
        <p:nvSpPr>
          <p:cNvPr id="12" name="Rectangle 11"/>
          <p:cNvSpPr/>
          <p:nvPr/>
        </p:nvSpPr>
        <p:spPr>
          <a:xfrm>
            <a:off x="848541" y="2256520"/>
            <a:ext cx="2451370" cy="23022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5" name="Group 24"/>
          <p:cNvGrpSpPr/>
          <p:nvPr/>
        </p:nvGrpSpPr>
        <p:grpSpPr>
          <a:xfrm>
            <a:off x="8077199" y="2149409"/>
            <a:ext cx="2193419" cy="2108266"/>
            <a:chOff x="7864340" y="1517674"/>
            <a:chExt cx="2134326" cy="1783246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41" t="25254" r="56968" b="28165"/>
            <a:stretch/>
          </p:blipFill>
          <p:spPr>
            <a:xfrm>
              <a:off x="8177719" y="1702500"/>
              <a:ext cx="602584" cy="461068"/>
            </a:xfrm>
            <a:prstGeom prst="rect">
              <a:avLst/>
            </a:prstGeom>
          </p:spPr>
        </p:pic>
        <p:sp>
          <p:nvSpPr>
            <p:cNvPr id="15" name="Flowchart: Magnetic Disk 14"/>
            <p:cNvSpPr/>
            <p:nvPr/>
          </p:nvSpPr>
          <p:spPr>
            <a:xfrm>
              <a:off x="8262024" y="2412416"/>
              <a:ext cx="452812" cy="378621"/>
            </a:xfrm>
            <a:prstGeom prst="flowChartMagneticDisk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714837" y="2415816"/>
              <a:ext cx="1238431" cy="232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smtClean="0"/>
                <a:t>MS SQL DB</a:t>
              </a:r>
              <a:endParaRPr lang="en-IN" sz="1600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738835" y="1767188"/>
              <a:ext cx="1238431" cy="232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smtClean="0"/>
                <a:t>Redis</a:t>
              </a:r>
              <a:endParaRPr lang="en-IN" dirty="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864340" y="1517674"/>
              <a:ext cx="2134326" cy="1783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33" name="Straight Arrow Connector 32"/>
          <p:cNvCxnSpPr>
            <a:stCxn id="11" idx="2"/>
            <a:endCxn id="7" idx="0"/>
          </p:cNvCxnSpPr>
          <p:nvPr/>
        </p:nvCxnSpPr>
        <p:spPr>
          <a:xfrm>
            <a:off x="2040178" y="3193619"/>
            <a:ext cx="0" cy="3599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484936" y="2351949"/>
            <a:ext cx="1693344" cy="31754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1" name="Rectangle 20"/>
          <p:cNvSpPr/>
          <p:nvPr/>
        </p:nvSpPr>
        <p:spPr>
          <a:xfrm>
            <a:off x="4490496" y="5570303"/>
            <a:ext cx="1693344" cy="38262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Auth. Service</a:t>
            </a:r>
            <a:endParaRPr lang="en-IN" sz="1400" dirty="0"/>
          </a:p>
        </p:txBody>
      </p:sp>
      <p:sp>
        <p:nvSpPr>
          <p:cNvPr id="22" name="Rectangle 21"/>
          <p:cNvSpPr/>
          <p:nvPr/>
        </p:nvSpPr>
        <p:spPr>
          <a:xfrm>
            <a:off x="4484936" y="1938284"/>
            <a:ext cx="1693344" cy="38262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Categories Service</a:t>
            </a:r>
            <a:endParaRPr lang="en-IN" sz="1400" dirty="0"/>
          </a:p>
        </p:txBody>
      </p:sp>
      <p:sp>
        <p:nvSpPr>
          <p:cNvPr id="2" name="TextBox 1"/>
          <p:cNvSpPr txBox="1"/>
          <p:nvPr/>
        </p:nvSpPr>
        <p:spPr>
          <a:xfrm>
            <a:off x="4627370" y="2399754"/>
            <a:ext cx="18760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smtClean="0">
                <a:solidFill>
                  <a:schemeClr val="bg1"/>
                </a:solidFill>
              </a:rPr>
              <a:t>Products Service</a:t>
            </a:r>
            <a:endParaRPr lang="en-IN" sz="1400" b="1" dirty="0">
              <a:solidFill>
                <a:schemeClr val="bg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640128" y="4436516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Add Product</a:t>
            </a:r>
            <a:endParaRPr lang="en-IN" sz="1200" dirty="0"/>
          </a:p>
        </p:txBody>
      </p:sp>
      <p:sp>
        <p:nvSpPr>
          <p:cNvPr id="29" name="Rectangle 28"/>
          <p:cNvSpPr/>
          <p:nvPr/>
        </p:nvSpPr>
        <p:spPr>
          <a:xfrm>
            <a:off x="4640128" y="2678784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Popular Products</a:t>
            </a:r>
            <a:endParaRPr lang="en-IN" sz="1200" dirty="0"/>
          </a:p>
        </p:txBody>
      </p:sp>
      <p:sp>
        <p:nvSpPr>
          <p:cNvPr id="30" name="Rectangle 29"/>
          <p:cNvSpPr/>
          <p:nvPr/>
        </p:nvSpPr>
        <p:spPr>
          <a:xfrm>
            <a:off x="4640128" y="5139608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Delete Product</a:t>
            </a:r>
            <a:endParaRPr lang="en-IN" sz="1200" dirty="0"/>
          </a:p>
        </p:txBody>
      </p:sp>
      <p:sp>
        <p:nvSpPr>
          <p:cNvPr id="31" name="Rectangle 30"/>
          <p:cNvSpPr/>
          <p:nvPr/>
        </p:nvSpPr>
        <p:spPr>
          <a:xfrm>
            <a:off x="4640128" y="4788062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Update Product</a:t>
            </a:r>
            <a:endParaRPr lang="en-IN" sz="1200" dirty="0"/>
          </a:p>
        </p:txBody>
      </p:sp>
      <p:sp>
        <p:nvSpPr>
          <p:cNvPr id="32" name="Rectangle 31"/>
          <p:cNvSpPr/>
          <p:nvPr/>
        </p:nvSpPr>
        <p:spPr>
          <a:xfrm>
            <a:off x="4640128" y="3381876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Products by Category</a:t>
            </a:r>
            <a:endParaRPr lang="en-IN" sz="1100" dirty="0"/>
          </a:p>
        </p:txBody>
      </p:sp>
      <p:sp>
        <p:nvSpPr>
          <p:cNvPr id="34" name="Rectangle 33"/>
          <p:cNvSpPr/>
          <p:nvPr/>
        </p:nvSpPr>
        <p:spPr>
          <a:xfrm>
            <a:off x="4640128" y="3030330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Search Product</a:t>
            </a:r>
            <a:endParaRPr lang="en-IN" sz="1200" dirty="0"/>
          </a:p>
        </p:txBody>
      </p:sp>
      <p:sp>
        <p:nvSpPr>
          <p:cNvPr id="35" name="Rectangle 34"/>
          <p:cNvSpPr/>
          <p:nvPr/>
        </p:nvSpPr>
        <p:spPr>
          <a:xfrm>
            <a:off x="4640128" y="3733422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Auto suggest Product</a:t>
            </a:r>
            <a:endParaRPr lang="en-IN" sz="1100" dirty="0"/>
          </a:p>
        </p:txBody>
      </p:sp>
      <p:sp>
        <p:nvSpPr>
          <p:cNvPr id="36" name="Rectangle 35"/>
          <p:cNvSpPr/>
          <p:nvPr/>
        </p:nvSpPr>
        <p:spPr>
          <a:xfrm>
            <a:off x="4640128" y="4084969"/>
            <a:ext cx="1416243" cy="27298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Related Products</a:t>
            </a:r>
            <a:endParaRPr lang="en-IN" sz="1200" dirty="0"/>
          </a:p>
        </p:txBody>
      </p:sp>
      <p:cxnSp>
        <p:nvCxnSpPr>
          <p:cNvPr id="16" name="Curved Connector 15"/>
          <p:cNvCxnSpPr>
            <a:stCxn id="3" idx="3"/>
            <a:endCxn id="15" idx="2"/>
          </p:cNvCxnSpPr>
          <p:nvPr/>
        </p:nvCxnSpPr>
        <p:spPr>
          <a:xfrm flipV="1">
            <a:off x="6056371" y="3431044"/>
            <a:ext cx="2429523" cy="11419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urved Connector 37"/>
          <p:cNvCxnSpPr>
            <a:stCxn id="31" idx="3"/>
            <a:endCxn id="15" idx="2"/>
          </p:cNvCxnSpPr>
          <p:nvPr/>
        </p:nvCxnSpPr>
        <p:spPr>
          <a:xfrm flipV="1">
            <a:off x="6056371" y="3431044"/>
            <a:ext cx="2429523" cy="149351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urved Connector 40"/>
          <p:cNvCxnSpPr>
            <a:stCxn id="30" idx="3"/>
            <a:endCxn id="15" idx="2"/>
          </p:cNvCxnSpPr>
          <p:nvPr/>
        </p:nvCxnSpPr>
        <p:spPr>
          <a:xfrm flipV="1">
            <a:off x="6056371" y="3431044"/>
            <a:ext cx="2429523" cy="1845056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Curved Connector 44"/>
          <p:cNvCxnSpPr>
            <a:stCxn id="29" idx="3"/>
            <a:endCxn id="14" idx="1"/>
          </p:cNvCxnSpPr>
          <p:nvPr/>
        </p:nvCxnSpPr>
        <p:spPr>
          <a:xfrm flipV="1">
            <a:off x="6056371" y="2640474"/>
            <a:ext cx="2342884" cy="17480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Curved Connector 47"/>
          <p:cNvCxnSpPr>
            <a:stCxn id="34" idx="3"/>
            <a:endCxn id="14" idx="1"/>
          </p:cNvCxnSpPr>
          <p:nvPr/>
        </p:nvCxnSpPr>
        <p:spPr>
          <a:xfrm flipV="1">
            <a:off x="6056371" y="2640474"/>
            <a:ext cx="2342884" cy="52634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urved Connector 48"/>
          <p:cNvCxnSpPr>
            <a:stCxn id="32" idx="3"/>
            <a:endCxn id="14" idx="1"/>
          </p:cNvCxnSpPr>
          <p:nvPr/>
        </p:nvCxnSpPr>
        <p:spPr>
          <a:xfrm flipV="1">
            <a:off x="6056371" y="2640474"/>
            <a:ext cx="2342884" cy="87789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urved Connector 49"/>
          <p:cNvCxnSpPr>
            <a:stCxn id="35" idx="3"/>
            <a:endCxn id="14" idx="1"/>
          </p:cNvCxnSpPr>
          <p:nvPr/>
        </p:nvCxnSpPr>
        <p:spPr>
          <a:xfrm flipV="1">
            <a:off x="6056371" y="2640474"/>
            <a:ext cx="2342884" cy="122944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Curved Connector 50"/>
          <p:cNvCxnSpPr>
            <a:stCxn id="36" idx="3"/>
            <a:endCxn id="14" idx="1"/>
          </p:cNvCxnSpPr>
          <p:nvPr/>
        </p:nvCxnSpPr>
        <p:spPr>
          <a:xfrm flipV="1">
            <a:off x="6056371" y="2640474"/>
            <a:ext cx="2342884" cy="15809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urved Connector 70"/>
          <p:cNvCxnSpPr>
            <a:stCxn id="22" idx="3"/>
            <a:endCxn id="14" idx="1"/>
          </p:cNvCxnSpPr>
          <p:nvPr/>
        </p:nvCxnSpPr>
        <p:spPr>
          <a:xfrm>
            <a:off x="6178280" y="2129595"/>
            <a:ext cx="2220975" cy="51087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Curved Connector 73"/>
          <p:cNvCxnSpPr>
            <a:stCxn id="21" idx="3"/>
            <a:endCxn id="15" idx="2"/>
          </p:cNvCxnSpPr>
          <p:nvPr/>
        </p:nvCxnSpPr>
        <p:spPr>
          <a:xfrm flipV="1">
            <a:off x="6183840" y="3431044"/>
            <a:ext cx="2302054" cy="23305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Curved Connector 76"/>
          <p:cNvCxnSpPr>
            <a:stCxn id="14" idx="2"/>
            <a:endCxn id="15" idx="1"/>
          </p:cNvCxnSpPr>
          <p:nvPr/>
        </p:nvCxnSpPr>
        <p:spPr>
          <a:xfrm rot="16200000" flipH="1">
            <a:off x="8566628" y="3055287"/>
            <a:ext cx="294203" cy="96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4414916" y="1217402"/>
            <a:ext cx="1866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Frontend- ReactJS</a:t>
            </a:r>
            <a:endParaRPr lang="en-IN" dirty="0"/>
          </a:p>
        </p:txBody>
      </p:sp>
      <p:cxnSp>
        <p:nvCxnSpPr>
          <p:cNvPr id="125" name="Curved Connector 124"/>
          <p:cNvCxnSpPr>
            <a:stCxn id="12" idx="3"/>
            <a:endCxn id="20" idx="1"/>
          </p:cNvCxnSpPr>
          <p:nvPr/>
        </p:nvCxnSpPr>
        <p:spPr>
          <a:xfrm>
            <a:off x="3299911" y="3407627"/>
            <a:ext cx="1185025" cy="532027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urved Connector 126"/>
          <p:cNvCxnSpPr>
            <a:stCxn id="12" idx="3"/>
            <a:endCxn id="22" idx="1"/>
          </p:cNvCxnSpPr>
          <p:nvPr/>
        </p:nvCxnSpPr>
        <p:spPr>
          <a:xfrm flipV="1">
            <a:off x="3299911" y="2129595"/>
            <a:ext cx="1185025" cy="127803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urved Connector 129"/>
          <p:cNvCxnSpPr>
            <a:stCxn id="12" idx="3"/>
            <a:endCxn id="21" idx="1"/>
          </p:cNvCxnSpPr>
          <p:nvPr/>
        </p:nvCxnSpPr>
        <p:spPr>
          <a:xfrm>
            <a:off x="3299911" y="3407627"/>
            <a:ext cx="1190585" cy="23539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1728787" y="161126"/>
            <a:ext cx="1381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Components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5932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5154" y="72629"/>
            <a:ext cx="74190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defTabSz="457200"/>
            <a:r>
              <a:rPr sz="1000" dirty="0">
                <a:solidFill>
                  <a:prstClr val="black"/>
                </a:solidFill>
              </a:rPr>
              <a:t>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94613" y="91266"/>
            <a:ext cx="815566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7737" y="87558"/>
            <a:ext cx="73665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lang="en-US" sz="1000" dirty="0">
                <a:solidFill>
                  <a:prstClr val="black"/>
                </a:solidFill>
              </a:rPr>
              <a:t>UI - </a:t>
            </a:r>
            <a:r>
              <a:rPr sz="1000" dirty="0">
                <a:solidFill>
                  <a:prstClr val="black"/>
                </a:solidFill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5070" y="70843"/>
            <a:ext cx="971085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600" y="70843"/>
            <a:ext cx="935740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Redis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9388" y="72629"/>
            <a:ext cx="69899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446" y="433924"/>
            <a:ext cx="103105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Visit Home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257" y="536436"/>
            <a:ext cx="10999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products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3248" y="608170"/>
            <a:ext cx="96372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Fetch products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1868" y="682048"/>
            <a:ext cx="125386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Get cached product</a:t>
            </a:r>
            <a:r>
              <a:rPr lang="en-US" sz="1000" dirty="0">
                <a:solidFill>
                  <a:prstClr val="black"/>
                </a:solidFill>
              </a:rPr>
              <a:t>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40811" y="897552"/>
            <a:ext cx="13692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DB if cache miss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4803" y="1035902"/>
            <a:ext cx="103105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products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3450" y="1430953"/>
            <a:ext cx="102624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Search 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6065" y="1607805"/>
            <a:ext cx="87556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8326" y="2113243"/>
            <a:ext cx="128753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search results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2413200" y="456009"/>
            <a:ext cx="320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3590080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4689615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7083587" y="433923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8498735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9598897" y="441959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2445224" y="680144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3588984" y="744556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>
            <a:off x="4696033" y="839150"/>
            <a:ext cx="241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7097674" y="912791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>
            <a:off x="7095518" y="1113292"/>
            <a:ext cx="25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3605769" y="1280932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2445224" y="1635799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3588984" y="1724351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4696033" y="1817665"/>
            <a:ext cx="241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>
            <a:off x="7082434" y="1891306"/>
            <a:ext cx="144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/>
          <p:nvPr/>
        </p:nvCxnSpPr>
        <p:spPr>
          <a:xfrm>
            <a:off x="7095518" y="2099427"/>
            <a:ext cx="25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83274" y="1674391"/>
            <a:ext cx="11464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cached results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673175" y="1480449"/>
            <a:ext cx="98937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</a:t>
            </a:r>
            <a:r>
              <a:rPr lang="en-US" sz="1000" dirty="0">
                <a:solidFill>
                  <a:prstClr val="black"/>
                </a:solidFill>
              </a:rPr>
              <a:t>Search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088312" y="1898586"/>
            <a:ext cx="13692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DB if cache miss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46310" y="2368213"/>
            <a:ext cx="75533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Search </a:t>
            </a:r>
            <a:r>
              <a:rPr lang="en-US" sz="1000" dirty="0">
                <a:solidFill>
                  <a:prstClr val="black"/>
                </a:solidFill>
              </a:rPr>
              <a:t>box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5228424" y="2583165"/>
            <a:ext cx="111120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Fetch auto </a:t>
            </a:r>
            <a:r>
              <a:rPr sz="1000" dirty="0">
                <a:solidFill>
                  <a:prstClr val="black"/>
                </a:solidFill>
              </a:rPr>
              <a:t>search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87150" y="2958597"/>
            <a:ext cx="91723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results</a:t>
            </a:r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3574878" y="2337732"/>
            <a:ext cx="1116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>
            <a:off x="2445224" y="2573059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3596604" y="2714951"/>
            <a:ext cx="111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4711273" y="2785405"/>
            <a:ext cx="241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7112855" y="2873335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7072658" y="3044307"/>
            <a:ext cx="255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 flipH="1">
            <a:off x="3605769" y="3183966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83230" y="2627115"/>
            <a:ext cx="140775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cached suggestions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3549678" y="2488298"/>
            <a:ext cx="130195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</a:t>
            </a:r>
            <a:r>
              <a:rPr lang="en-US" sz="1000" dirty="0">
                <a:solidFill>
                  <a:prstClr val="black"/>
                </a:solidFill>
              </a:rPr>
              <a:t>auto suggest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225623" y="2829104"/>
            <a:ext cx="13692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DB if cache miss</a:t>
            </a:r>
          </a:p>
        </p:txBody>
      </p:sp>
      <p:cxnSp>
        <p:nvCxnSpPr>
          <p:cNvPr id="115" name="Straight Arrow Connector 114"/>
          <p:cNvCxnSpPr/>
          <p:nvPr/>
        </p:nvCxnSpPr>
        <p:spPr>
          <a:xfrm flipH="1">
            <a:off x="4663320" y="1187464"/>
            <a:ext cx="2412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338159" y="988300"/>
            <a:ext cx="103105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products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607799" y="4745653"/>
            <a:ext cx="68800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View Cart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3633844" y="5205308"/>
            <a:ext cx="109036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cart items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76" name="Straight Arrow Connector 175"/>
          <p:cNvCxnSpPr/>
          <p:nvPr/>
        </p:nvCxnSpPr>
        <p:spPr>
          <a:xfrm>
            <a:off x="2421953" y="4950499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/>
          <p:nvPr/>
        </p:nvCxnSpPr>
        <p:spPr>
          <a:xfrm>
            <a:off x="3580953" y="5092391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/>
          <p:cNvCxnSpPr/>
          <p:nvPr/>
        </p:nvCxnSpPr>
        <p:spPr>
          <a:xfrm flipH="1">
            <a:off x="3574878" y="5425170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3" name="TextBox 182"/>
          <p:cNvSpPr txBox="1"/>
          <p:nvPr/>
        </p:nvSpPr>
        <p:spPr>
          <a:xfrm>
            <a:off x="3573953" y="4868763"/>
            <a:ext cx="115929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</a:t>
            </a:r>
            <a:r>
              <a:rPr lang="en-US" sz="1000" dirty="0">
                <a:solidFill>
                  <a:prstClr val="black"/>
                </a:solidFill>
              </a:rPr>
              <a:t>cart items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2607799" y="3244392"/>
            <a:ext cx="7793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Add to Cart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702314" y="3679437"/>
            <a:ext cx="78899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Result to UI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14" name="Straight Arrow Connector 113"/>
          <p:cNvCxnSpPr/>
          <p:nvPr/>
        </p:nvCxnSpPr>
        <p:spPr>
          <a:xfrm>
            <a:off x="2421953" y="3449238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5" name="Straight Arrow Connector 124"/>
          <p:cNvCxnSpPr/>
          <p:nvPr/>
        </p:nvCxnSpPr>
        <p:spPr>
          <a:xfrm>
            <a:off x="3573333" y="3621610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/>
          <p:nvPr/>
        </p:nvCxnSpPr>
        <p:spPr>
          <a:xfrm flipH="1">
            <a:off x="3582498" y="3893429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3543224" y="3385328"/>
            <a:ext cx="12057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</a:t>
            </a:r>
            <a:r>
              <a:rPr lang="en-US" sz="1000" dirty="0">
                <a:solidFill>
                  <a:prstClr val="black"/>
                </a:solidFill>
              </a:rPr>
              <a:t>add to cart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5441947" y="75839"/>
            <a:ext cx="909879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lang="en-US" sz="1000" dirty="0">
                <a:solidFill>
                  <a:prstClr val="black"/>
                </a:solidFill>
              </a:rPr>
              <a:t>UI Local Store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29" name="Straight Connector 128"/>
          <p:cNvCxnSpPr/>
          <p:nvPr/>
        </p:nvCxnSpPr>
        <p:spPr>
          <a:xfrm>
            <a:off x="5915433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4777405" y="3475674"/>
            <a:ext cx="114005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Store item to local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31" name="Straight Arrow Connector 130"/>
          <p:cNvCxnSpPr/>
          <p:nvPr/>
        </p:nvCxnSpPr>
        <p:spPr>
          <a:xfrm>
            <a:off x="4685769" y="3706277"/>
            <a:ext cx="122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2463834" y="3969159"/>
            <a:ext cx="113845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Remove from Cart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3717109" y="4434859"/>
            <a:ext cx="78899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Result to UI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34" name="Straight Arrow Connector 133"/>
          <p:cNvCxnSpPr/>
          <p:nvPr/>
        </p:nvCxnSpPr>
        <p:spPr>
          <a:xfrm>
            <a:off x="2436748" y="4212280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Straight Arrow Connector 134"/>
          <p:cNvCxnSpPr/>
          <p:nvPr/>
        </p:nvCxnSpPr>
        <p:spPr>
          <a:xfrm>
            <a:off x="3588128" y="4354172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Straight Arrow Connector 135"/>
          <p:cNvCxnSpPr/>
          <p:nvPr/>
        </p:nvCxnSpPr>
        <p:spPr>
          <a:xfrm flipH="1">
            <a:off x="3582498" y="4681079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3550399" y="4140750"/>
            <a:ext cx="107112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 Delete from cart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4738861" y="4238716"/>
            <a:ext cx="119936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Remove from Store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39" name="Straight Arrow Connector 138"/>
          <p:cNvCxnSpPr/>
          <p:nvPr/>
        </p:nvCxnSpPr>
        <p:spPr>
          <a:xfrm>
            <a:off x="4700564" y="4469319"/>
            <a:ext cx="122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4716067" y="4964557"/>
            <a:ext cx="127951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items from Store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41" name="Straight Arrow Connector 140"/>
          <p:cNvCxnSpPr/>
          <p:nvPr/>
        </p:nvCxnSpPr>
        <p:spPr>
          <a:xfrm>
            <a:off x="4677770" y="5195160"/>
            <a:ext cx="122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/>
          <p:nvPr/>
        </p:nvCxnSpPr>
        <p:spPr>
          <a:xfrm flipH="1">
            <a:off x="4663320" y="2147942"/>
            <a:ext cx="2412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5338159" y="1948778"/>
            <a:ext cx="103105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products</a:t>
            </a:r>
          </a:p>
        </p:txBody>
      </p:sp>
      <p:cxnSp>
        <p:nvCxnSpPr>
          <p:cNvPr id="144" name="Straight Arrow Connector 143"/>
          <p:cNvCxnSpPr/>
          <p:nvPr/>
        </p:nvCxnSpPr>
        <p:spPr>
          <a:xfrm flipH="1">
            <a:off x="4688150" y="3092706"/>
            <a:ext cx="2412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362988" y="2893542"/>
            <a:ext cx="144623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auto suggestions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2615139" y="5501074"/>
            <a:ext cx="46358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Login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3656797" y="6349202"/>
            <a:ext cx="92235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result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48" name="Straight Arrow Connector 147"/>
          <p:cNvCxnSpPr/>
          <p:nvPr/>
        </p:nvCxnSpPr>
        <p:spPr>
          <a:xfrm>
            <a:off x="2429294" y="5705920"/>
            <a:ext cx="11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Straight Arrow Connector 148"/>
          <p:cNvCxnSpPr/>
          <p:nvPr/>
        </p:nvCxnSpPr>
        <p:spPr>
          <a:xfrm>
            <a:off x="3588294" y="5847812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Straight Arrow Connector 149"/>
          <p:cNvCxnSpPr/>
          <p:nvPr/>
        </p:nvCxnSpPr>
        <p:spPr>
          <a:xfrm flipH="1">
            <a:off x="3597831" y="6569064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3581295" y="5624184"/>
            <a:ext cx="91723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Request </a:t>
            </a:r>
            <a:r>
              <a:rPr lang="en-US" sz="1000" dirty="0">
                <a:solidFill>
                  <a:prstClr val="black"/>
                </a:solidFill>
              </a:rPr>
              <a:t>Login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52" name="Straight Arrow Connector 151"/>
          <p:cNvCxnSpPr/>
          <p:nvPr/>
        </p:nvCxnSpPr>
        <p:spPr>
          <a:xfrm flipH="1">
            <a:off x="3589839" y="5436500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4797386" y="5724702"/>
            <a:ext cx="84670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if logged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54" name="Straight Arrow Connector 153"/>
          <p:cNvCxnSpPr/>
          <p:nvPr/>
        </p:nvCxnSpPr>
        <p:spPr>
          <a:xfrm>
            <a:off x="4685111" y="5950581"/>
            <a:ext cx="122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/>
        </p:nvSpPr>
        <p:spPr>
          <a:xfrm>
            <a:off x="4906091" y="6000212"/>
            <a:ext cx="159210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if not already logged in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56" name="Straight Arrow Connector 155"/>
          <p:cNvCxnSpPr/>
          <p:nvPr/>
        </p:nvCxnSpPr>
        <p:spPr>
          <a:xfrm>
            <a:off x="4698994" y="6226091"/>
            <a:ext cx="241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7382364" y="6120163"/>
            <a:ext cx="98937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Validated log in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58" name="Straight Arrow Connector 157"/>
          <p:cNvCxnSpPr/>
          <p:nvPr/>
        </p:nvCxnSpPr>
        <p:spPr>
          <a:xfrm>
            <a:off x="7084833" y="6349201"/>
            <a:ext cx="25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Straight Arrow Connector 158"/>
          <p:cNvCxnSpPr/>
          <p:nvPr/>
        </p:nvCxnSpPr>
        <p:spPr>
          <a:xfrm flipH="1">
            <a:off x="4670567" y="6454545"/>
            <a:ext cx="2412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345405" y="6255381"/>
            <a:ext cx="140775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validation result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3401" y="259080"/>
            <a:ext cx="1371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dirty="0">
                <a:solidFill>
                  <a:prstClr val="black"/>
                </a:solidFill>
              </a:rPr>
              <a:t>Latest - 1</a:t>
            </a:r>
            <a:endParaRPr lang="en-IN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4788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05154" y="81055"/>
            <a:ext cx="74190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defTabSz="457200"/>
            <a:r>
              <a:rPr sz="1000" dirty="0">
                <a:solidFill>
                  <a:prstClr val="black"/>
                </a:solidFill>
              </a:rPr>
              <a:t>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94613" y="81055"/>
            <a:ext cx="815566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7737" y="81055"/>
            <a:ext cx="73665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lang="en-US" sz="1000" dirty="0">
                <a:solidFill>
                  <a:prstClr val="black"/>
                </a:solidFill>
              </a:rPr>
              <a:t>UI - </a:t>
            </a:r>
            <a:r>
              <a:rPr sz="1000" dirty="0">
                <a:solidFill>
                  <a:prstClr val="black"/>
                </a:solidFill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5070" y="81055"/>
            <a:ext cx="971085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600" y="81055"/>
            <a:ext cx="935740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Redis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9388" y="81055"/>
            <a:ext cx="698993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sz="1000" dirty="0">
                <a:solidFill>
                  <a:prstClr val="black"/>
                </a:solidFill>
              </a:rPr>
              <a:t>DB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2413200" y="456009"/>
            <a:ext cx="320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3590080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4689615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7075967" y="433923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8498735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9598897" y="441959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5441947" y="81055"/>
            <a:ext cx="909879" cy="24622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pPr algn="ctr" defTabSz="457200"/>
            <a:r>
              <a:rPr lang="en-US" sz="1000" dirty="0">
                <a:solidFill>
                  <a:prstClr val="black"/>
                </a:solidFill>
              </a:rPr>
              <a:t>UI Local Store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29" name="Straight Connector 128"/>
          <p:cNvCxnSpPr/>
          <p:nvPr/>
        </p:nvCxnSpPr>
        <p:spPr>
          <a:xfrm>
            <a:off x="5915433" y="447418"/>
            <a:ext cx="6824" cy="640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-1273103" y="327276"/>
            <a:ext cx="10174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dirty="0">
                <a:solidFill>
                  <a:prstClr val="black"/>
                </a:solidFill>
              </a:rPr>
              <a:t>Latest - 2</a:t>
            </a:r>
            <a:endParaRPr lang="en-IN" dirty="0">
              <a:solidFill>
                <a:prstClr val="black"/>
              </a:solidFill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2471039" y="1548618"/>
            <a:ext cx="10361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Add product request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187669" y="1830259"/>
            <a:ext cx="129875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Insert product record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39943" y="3123544"/>
            <a:ext cx="10620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Delete product request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179306" y="3537705"/>
            <a:ext cx="142218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Remove product record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53816" y="2311032"/>
            <a:ext cx="10396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Update product request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960" y="478990"/>
            <a:ext cx="107627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Related products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4738683" y="682234"/>
            <a:ext cx="136608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Fetch related products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4729254" y="1053663"/>
            <a:ext cx="181011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related products </a:t>
            </a:r>
            <a:r>
              <a:rPr sz="1000" dirty="0">
                <a:solidFill>
                  <a:prstClr val="black"/>
                </a:solidFill>
              </a:rPr>
              <a:t>results</a:t>
            </a:r>
          </a:p>
        </p:txBody>
      </p:sp>
      <p:cxnSp>
        <p:nvCxnSpPr>
          <p:cNvPr id="124" name="Straight Arrow Connector 123"/>
          <p:cNvCxnSpPr/>
          <p:nvPr/>
        </p:nvCxnSpPr>
        <p:spPr>
          <a:xfrm>
            <a:off x="2425962" y="684580"/>
            <a:ext cx="118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1" name="Straight Arrow Connector 160"/>
          <p:cNvCxnSpPr/>
          <p:nvPr/>
        </p:nvCxnSpPr>
        <p:spPr>
          <a:xfrm>
            <a:off x="3600202" y="780752"/>
            <a:ext cx="111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Straight Arrow Connector 161"/>
          <p:cNvCxnSpPr/>
          <p:nvPr/>
        </p:nvCxnSpPr>
        <p:spPr>
          <a:xfrm>
            <a:off x="4722131" y="884486"/>
            <a:ext cx="237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3" name="Straight Arrow Connector 162"/>
          <p:cNvCxnSpPr/>
          <p:nvPr/>
        </p:nvCxnSpPr>
        <p:spPr>
          <a:xfrm>
            <a:off x="7063172" y="993427"/>
            <a:ext cx="144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/>
          <p:nvPr/>
        </p:nvCxnSpPr>
        <p:spPr>
          <a:xfrm>
            <a:off x="7061016" y="1239648"/>
            <a:ext cx="255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/>
          <p:nvPr/>
        </p:nvCxnSpPr>
        <p:spPr>
          <a:xfrm flipH="1">
            <a:off x="4704388" y="1299883"/>
            <a:ext cx="2376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7098132" y="723754"/>
            <a:ext cx="169148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Get cached related products 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3539612" y="574950"/>
            <a:ext cx="158279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Req</a:t>
            </a:r>
            <a:r>
              <a:rPr lang="en-US" sz="1000" dirty="0">
                <a:solidFill>
                  <a:prstClr val="black"/>
                </a:solidFill>
              </a:rPr>
              <a:t>.</a:t>
            </a:r>
            <a:r>
              <a:rPr sz="1000" dirty="0">
                <a:solidFill>
                  <a:prstClr val="black"/>
                </a:solidFill>
              </a:rPr>
              <a:t> </a:t>
            </a:r>
            <a:r>
              <a:rPr lang="en-US" sz="1000" dirty="0">
                <a:solidFill>
                  <a:prstClr val="black"/>
                </a:solidFill>
              </a:rPr>
              <a:t>rel. products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7337986" y="1024445"/>
            <a:ext cx="13692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DB if cache miss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71406" y="1958303"/>
            <a:ext cx="188545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status for adding product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70" name="Straight Arrow Connector 169"/>
          <p:cNvCxnSpPr/>
          <p:nvPr/>
        </p:nvCxnSpPr>
        <p:spPr>
          <a:xfrm>
            <a:off x="2434324" y="1758404"/>
            <a:ext cx="118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Straight Arrow Connector 171"/>
          <p:cNvCxnSpPr/>
          <p:nvPr/>
        </p:nvCxnSpPr>
        <p:spPr>
          <a:xfrm>
            <a:off x="7055309" y="2027052"/>
            <a:ext cx="255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/>
          <p:nvPr/>
        </p:nvCxnSpPr>
        <p:spPr>
          <a:xfrm flipH="1">
            <a:off x="3867987" y="2173928"/>
            <a:ext cx="3204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8" name="TextBox 177"/>
          <p:cNvSpPr txBox="1"/>
          <p:nvPr/>
        </p:nvSpPr>
        <p:spPr>
          <a:xfrm>
            <a:off x="3715595" y="1709695"/>
            <a:ext cx="126348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Add product request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4876637" y="2612624"/>
            <a:ext cx="99899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Update request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80" name="Straight Arrow Connector 179"/>
          <p:cNvCxnSpPr/>
          <p:nvPr/>
        </p:nvCxnSpPr>
        <p:spPr>
          <a:xfrm>
            <a:off x="2434324" y="2546390"/>
            <a:ext cx="118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Straight Arrow Connector 181"/>
          <p:cNvCxnSpPr/>
          <p:nvPr/>
        </p:nvCxnSpPr>
        <p:spPr>
          <a:xfrm>
            <a:off x="3608564" y="2711142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Straight Arrow Connector 183"/>
          <p:cNvCxnSpPr/>
          <p:nvPr/>
        </p:nvCxnSpPr>
        <p:spPr>
          <a:xfrm>
            <a:off x="4730493" y="2814876"/>
            <a:ext cx="237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5" name="Straight Arrow Connector 184"/>
          <p:cNvCxnSpPr/>
          <p:nvPr/>
        </p:nvCxnSpPr>
        <p:spPr>
          <a:xfrm>
            <a:off x="7061758" y="2918578"/>
            <a:ext cx="255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3769152" y="2505340"/>
            <a:ext cx="101021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Update product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346348" y="2703375"/>
            <a:ext cx="13692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Query DB if cache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876637" y="3409896"/>
            <a:ext cx="95731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Delete request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3845998" y="3677245"/>
            <a:ext cx="8835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status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90" name="Straight Arrow Connector 189"/>
          <p:cNvCxnSpPr/>
          <p:nvPr/>
        </p:nvCxnSpPr>
        <p:spPr>
          <a:xfrm>
            <a:off x="2434324" y="3358902"/>
            <a:ext cx="118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1" name="Straight Arrow Connector 190"/>
          <p:cNvCxnSpPr/>
          <p:nvPr/>
        </p:nvCxnSpPr>
        <p:spPr>
          <a:xfrm>
            <a:off x="3608564" y="3523654"/>
            <a:ext cx="10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2" name="Straight Arrow Connector 191"/>
          <p:cNvCxnSpPr/>
          <p:nvPr/>
        </p:nvCxnSpPr>
        <p:spPr>
          <a:xfrm>
            <a:off x="4722873" y="3604528"/>
            <a:ext cx="237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/>
          <p:nvPr/>
        </p:nvCxnSpPr>
        <p:spPr>
          <a:xfrm>
            <a:off x="7080388" y="3745885"/>
            <a:ext cx="255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Straight Arrow Connector 193"/>
          <p:cNvCxnSpPr/>
          <p:nvPr/>
        </p:nvCxnSpPr>
        <p:spPr>
          <a:xfrm flipH="1">
            <a:off x="3610109" y="3899267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3791874" y="3317852"/>
            <a:ext cx="96693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lang="en-US" sz="1000" dirty="0">
                <a:solidFill>
                  <a:prstClr val="black"/>
                </a:solidFill>
              </a:rPr>
              <a:t>Delete Product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96" name="Straight Arrow Connector 195"/>
          <p:cNvCxnSpPr/>
          <p:nvPr/>
        </p:nvCxnSpPr>
        <p:spPr>
          <a:xfrm flipH="1">
            <a:off x="4678274" y="3805930"/>
            <a:ext cx="2376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TextBox 196"/>
          <p:cNvSpPr txBox="1"/>
          <p:nvPr/>
        </p:nvSpPr>
        <p:spPr>
          <a:xfrm>
            <a:off x="4956873" y="3606766"/>
            <a:ext cx="8835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status</a:t>
            </a:r>
            <a:endParaRPr sz="1000" dirty="0">
              <a:solidFill>
                <a:prstClr val="black"/>
              </a:solidFill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3845940" y="2954274"/>
            <a:ext cx="8835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status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199" name="Straight Arrow Connector 198"/>
          <p:cNvCxnSpPr/>
          <p:nvPr/>
        </p:nvCxnSpPr>
        <p:spPr>
          <a:xfrm flipH="1">
            <a:off x="3610051" y="3176296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Straight Arrow Connector 199"/>
          <p:cNvCxnSpPr/>
          <p:nvPr/>
        </p:nvCxnSpPr>
        <p:spPr>
          <a:xfrm flipH="1">
            <a:off x="4678216" y="3082959"/>
            <a:ext cx="2376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1" name="TextBox 200"/>
          <p:cNvSpPr txBox="1"/>
          <p:nvPr/>
        </p:nvSpPr>
        <p:spPr>
          <a:xfrm>
            <a:off x="4956815" y="2883795"/>
            <a:ext cx="8835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status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203" name="Straight Arrow Connector 202"/>
          <p:cNvCxnSpPr/>
          <p:nvPr/>
        </p:nvCxnSpPr>
        <p:spPr>
          <a:xfrm>
            <a:off x="3590080" y="1939116"/>
            <a:ext cx="352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4" name="TextBox 203"/>
          <p:cNvSpPr txBox="1"/>
          <p:nvPr/>
        </p:nvSpPr>
        <p:spPr>
          <a:xfrm>
            <a:off x="3755747" y="1177282"/>
            <a:ext cx="91723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/>
            <a:r>
              <a:rPr sz="1000" dirty="0">
                <a:solidFill>
                  <a:prstClr val="black"/>
                </a:solidFill>
              </a:rPr>
              <a:t>Return </a:t>
            </a:r>
            <a:r>
              <a:rPr lang="en-US" sz="1000" dirty="0">
                <a:solidFill>
                  <a:prstClr val="black"/>
                </a:solidFill>
              </a:rPr>
              <a:t>results</a:t>
            </a:r>
            <a:endParaRPr sz="1000" dirty="0">
              <a:solidFill>
                <a:prstClr val="black"/>
              </a:solidFill>
            </a:endParaRPr>
          </a:p>
        </p:txBody>
      </p:sp>
      <p:cxnSp>
        <p:nvCxnSpPr>
          <p:cNvPr id="205" name="Straight Arrow Connector 204"/>
          <p:cNvCxnSpPr/>
          <p:nvPr/>
        </p:nvCxnSpPr>
        <p:spPr>
          <a:xfrm flipH="1">
            <a:off x="3595870" y="1399304"/>
            <a:ext cx="1080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5605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275</Words>
  <Application>Microsoft Office PowerPoint</Application>
  <PresentationFormat>Widescreen</PresentationFormat>
  <Paragraphs>107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Satya</dc:creator>
  <cp:lastModifiedBy>Satya</cp:lastModifiedBy>
  <cp:revision>12</cp:revision>
  <dcterms:created xsi:type="dcterms:W3CDTF">2026-01-09T14:12:10Z</dcterms:created>
  <dcterms:modified xsi:type="dcterms:W3CDTF">2026-01-12T10:54:18Z</dcterms:modified>
</cp:coreProperties>
</file>